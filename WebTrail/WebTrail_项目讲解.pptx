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  <p:sldId id="272" r:id="rId19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9000"/>
              </a:lnSpc>
              <a:spcAft>
                <a:spcPts val="600"/>
              </a:spcAft>
              <a:defRPr sz="60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WebTrail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200"/>
              </a:lnSpc>
              <a:spcAft>
                <a:spcPts val="600"/>
              </a:spcAft>
              <a:defRPr sz="2800">
                <a:solidFill>
                  <a:srgbClr val="E3F2FD"/>
                </a:solidFill>
                <a:latin typeface="微软雅黑" panose="020B0503020204020204" charset="-122"/>
              </a:defRPr>
            </a:pPr>
            <a:r>
              <a:t>浏览器数字取证与用户画像工具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600"/>
              </a:spcAft>
              <a:defRPr sz="16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纯 Python 标准库 · 零第三方依赖 · 开箱即用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E3F2FD"/>
                </a:solidFill>
                <a:latin typeface="微软雅黑" panose="020B0503020204020204" charset="-122"/>
              </a:defRPr>
            </a:pPr>
            <a:r>
              <a:t>命令行 + 图形界面 · 跨平台 Windows / macOS /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1/18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14400" y="5570855"/>
            <a:ext cx="2376170" cy="7061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solidFill>
                  <a:schemeClr val="bg1"/>
                </a:solidFill>
              </a:rPr>
              <a:t>范宇森</a:t>
            </a:r>
            <a:r>
              <a:rPr lang="en-US" altLang="zh-CN" sz="2400">
                <a:solidFill>
                  <a:schemeClr val="bg1"/>
                </a:solidFill>
              </a:rPr>
              <a:t>  2024141530139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2/18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WebTrail 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WebTrail 是一款面向数字取证的开源工具，从本地浏览器中提取完整的浏览痕迹，</a:t>
            </a:r>
          </a:p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并通过用户行为画像技术，将碎片化数据转化为结构化的调查情报。</a:t>
            </a:r>
          </a:p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目标用户：  安全分析师、取证调查员、IT 审计人员</a:t>
            </a:r>
          </a:p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核心价值：  提取 + 分析 一体化，从数据采集到报告输出一条链路</a:t>
            </a:r>
          </a:p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技术特点：  纯 Python 标准库实现，无需安装任何第三方包</a:t>
            </a:r>
          </a:p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运行方式：  命令行（CLI）和图形界面（GUI）双模式</a:t>
            </a:r>
          </a:p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跨平台：    Windows / macOS / Linux 均可运行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3/18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背景与动机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为什么需要这样一款工具？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383280" cy="201168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痛点 1: 工具碎片化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商业取证工具（EnCase / FTK）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价格高昂、部署复杂、捆绑安装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需要便携、绿色、开箱即用的方案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201168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痛点 2: 信息过载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传统工具只做「提取」这一步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调查者面对数千条原始记录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信息密度低，人工研判耗时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54480"/>
            <a:ext cx="3383280" cy="201168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痛点 3: 缺乏画像能力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需要从痕迹中自动提炼行为模式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活跃时段、兴趣偏好、风险行为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将数据筛选转化为可操作情报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  WebTrail 的答案：一键完成 证据固定 → 数据提取 → 画像分析 → 报告输出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  将取证工作流压缩为一个命令：  python main.py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4/18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核心功能总览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6032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痕迹提取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浏览历史记录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Cookie 信息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下载记录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书签数据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登录凭证（密码）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缓存 / HSTS 元信息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56032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浏览器支持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Google Chrome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Microsoft Edge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Mozilla Firefox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（Chromium 内核 Edge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通过继承复用代码）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256032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取证保障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只读安全访问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SHA-256 链式保管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记录级完整性校验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时间戳保真转换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临时文件自动清理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554480"/>
            <a:ext cx="256032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画像分析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24h 活跃热力图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TOP 域名排名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URL 语义分类（8类）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风险指标检测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多浏览器对比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5 层模块化设计 · 15 个源文件 · 约 1800 行代码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分层架构，每层职责单一：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148840" cy="18288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入口层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main.py (87行)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解析 CLI 参数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调度 GUI 或管道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103120"/>
            <a:ext cx="2148840" cy="18288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管道层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pipeline.py (119行)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三阶段流程编排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哈希 → 提取 → 画像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103120"/>
            <a:ext cx="2148840" cy="18288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适配器层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browsers/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Chrome / Edge / Firefox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ABC 抽象基类 + 继承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59" y="2103120"/>
            <a:ext cx="2148840" cy="18288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分析层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core/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profiler.py 七维度画像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timeline.py 时间线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2103120"/>
            <a:ext cx="2148840" cy="18288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输出层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output/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JSON 取证报告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CSV 时间线表格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设计原则：  关注点分离  ·  最少依赖  ·  错误隔离  ·  职责单一  ·  继承合理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main.py → pipeline.py → browsers/* → profiler.py → output/writer.py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6/18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三阶段取证管道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核心编排逻辑 — pipeline.py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40080" y="1554480"/>
            <a:ext cx="137160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阶段 1</a:t>
            </a: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228600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证据哈希（Chain of Custody）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2468880" y="20574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遍历浏览器目录下所有 .sqlite 和 .json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逐文件计算 SHA-256 校验和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记录到报告元数据中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示例：189 个证据文件全部哈希</a:t>
            </a: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640080" y="3383280"/>
            <a:ext cx="1371600" cy="4114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阶段 2</a:t>
            </a: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2286000" y="3337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痕迹提取（Artifact Extraction）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2468880" y="3886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每个浏览器适配器并行运行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统一数据结构 ArtifactRecord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错误隔离：Chrome 失败不影响 Firefox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记录级校验和保证单条完整性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640080" y="5212080"/>
            <a:ext cx="1371600" cy="4114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阶段 3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2286000" y="5166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50"/>
              </a:lnSpc>
              <a:spcAft>
                <a:spcPts val="600"/>
              </a:spcAft>
              <a:defRPr sz="17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用户画像（Behavior Profiling）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2468880" y="5572125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基于全部痕迹的七维度分析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活跃热力图 / TOP 域名 / URL 分类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风险指标自动检测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▸ 生成 JSON + CSV 结构化报告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7/18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阶段 1：证据文件哈希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链式保管（Chain of Custody）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600"/>
              </a:spcAft>
              <a:defRPr sz="15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在提取任何数据之前，对全部证据文件计算 SHA-256。确保数据从未被篡改。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5486400" cy="32004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def collect_evidence_hashes(extractors) -&gt; dict: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"""阶段1：收集证据文件哈希"""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all_hashes = {}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for ext in extractors: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for name, path in ext.detect_profiles():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for f in path.rglob("*"):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if f.suffix in (".sqlite", ".json"):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    label = f"{ext.browser}/{name}/{f.name}"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    all_hashes[label] = file_hash(f)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return all_hashes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286000"/>
            <a:ext cx="5029200" cy="32004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哈希链验证流程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┌───────────────┐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证据文件        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.sqlite  .json  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└───────┬───────┘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   │ SHA-256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   ▼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┌───────────────┐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report.json    │ ← 元数据记录全部哈希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metadata:       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 {file_hash}    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└───────┬───────┘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   │ SHA-256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   ▼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┌──────────────────┐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report_checksums  │ ← 报告自校验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8/18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阶段 2：浏览器痕迹提取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统一数据结构 · 错误隔离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486400" cy="20116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@dataclass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class ArtifactRecord: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artifact_type: str     # history|cookie|download|bookmark|login|cache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browser: str           # Chrome|Edge|Firefox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timestamp:  str|None   # ISO 8601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profile:    str        # 用户配置名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source_file: str       # 证据文件路径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data:       dict       # 具体载荷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extraction_time: str   # 提取时刻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checksum:   str        # 本条记录 SHA-256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5029200" cy="201168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六大提取类型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History   → SQLite (urls / moz_places)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Cookie    → SQLite (cookies / moz_cookies)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Download  → SQLite (downloads / moz_annos)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Bookmark  → JSON 递归解析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Login     → SQLite / logins.json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Cache     → 目录元信息 + HSTS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提取保障机制：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SQLite 连接全部 mode=ro + PRAGMA query_only=ON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浏览器运行导致锁定 → safe_connect_with_fallback() 自动复制到临时文件，关闭即清理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单条提取失败不中断其他提取器（try/except per extractor）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ExtractionResult 包含 records + errors 双通道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9/18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阶段 3：用户行为画像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七维度综合分析 — profiler.py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51760" cy="210312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overview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中文: 总览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内容: 记录总数、时间范围、</a:t>
            </a:r>
            <a:br/>
            <a:r>
              <a:t>浏览器分布、类型分布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554480"/>
            <a:ext cx="2651760" cy="210312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activity_heat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中文: 活跃热力图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内容: 24小时分布 + </a:t>
            </a:r>
            <a:br/>
            <a:r>
              <a:t>近30天逐日统计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651760" cy="210312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top_domains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中文: TOP 域名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内容: TOP 20 访问域名</a:t>
            </a:r>
            <a:br/>
            <a:r>
              <a:t>及访问频次排名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554480"/>
            <a:ext cx="2651760" cy="210312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top_categories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中文: URL 分类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内容: 8类语义分类：</a:t>
            </a:r>
            <a:br/>
            <a:r>
              <a:t>社交/搜索/视频等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651760" cy="210312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behavior_insights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中文: 行为洞察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内容: 活跃高峰、夜间占比、</a:t>
            </a:r>
            <a:br/>
            <a:r>
              <a:t>登录/密码保存数量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3931920"/>
            <a:ext cx="2651760" cy="210312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browser_usage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中文: 浏览器使用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内容: 各浏览器按痕迹类型</a:t>
            </a:r>
            <a:br/>
            <a:r>
              <a:t>细分统计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2651760" cy="210312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risk_indicators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中文: 风险指标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内容: 隐私模式推断、历史清除</a:t>
            </a:r>
            <a:br/>
            <a:r>
              <a:t>检测、可疑域名匹配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10/18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浏览器适配器设计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ABC 抽象基类 + 继承复用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48640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class BaseExtractor(ABC):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"""所有浏览器提取器的抽象基类"""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browser: str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base_path: Path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def run(self) -&gt; ExtractionResult: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profiles = self.detect_profiles()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for name, path in profiles: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for extract in self._get_methods():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try: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    records += extract(path)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except Exception as e: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    errors.append(str(e))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return ExtractionResult(...)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@abstractmethod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def detect_profiles(self): ...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@abstractmethod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def extract_history(self, path): ...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@abstractmethod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def extract_cookies(self, path): ...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# ... 共 8 个抽象方法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554480"/>
            <a:ext cx="5029200" cy="4572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适配器一览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Chrome (212行)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├─ detect_profiles: 扫描 Default / Profile 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├─ 时间戳: 1601 epoch 微秒（WebKit）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└─ SQLite → History / Cookies / Login Data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Edge (18行 — 继承Chrome)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└─ 仅覆写 __init__ 设置 browser="Edge"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Firefox (198行)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├─ detect_profiles: 解析 profiles.ini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├─ 时间戳: 1970 epoch 微秒（PRTime）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└─ SQLite → places.sqlite / cookies.sqlite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11/18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Edge 继承 Chrome — 18 行复用 212 行逻辑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OOP 继承最佳实践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486400" cy="2286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from .chrome import ChromeExtractor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from config import EDGE_BASE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class EdgeExtractor(ChromeExtractor):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"""继承 Chrome 全部提取逻辑，仅覆写浏览器名。"""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def __init__(self, base_path: Path | None = None):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super().__init__(base_path or EDGE_BASE)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self.browser = "Edge"    # 只有这行不同！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502920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为什么可以这样做？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Edge 使用 Chromium 内核，数据库格式与 Chrome 完全一致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History / Cookies / Login Data 表结构相同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时间戳格式相同（WebKit 微秒）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▸ 书签 JSON 结构相同</a:t>
            </a: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1950"/>
              </a:lnSpc>
              <a:spcAft>
                <a:spcPts val="600"/>
              </a:spcAft>
              <a:defRPr sz="130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583680" y="1554480"/>
            <a:ext cx="5029200" cy="41148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不用继承 vs 用继承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如果不用继承：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需复制粘贴 Chrome 212 行代码到 Edge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SQL 查询、JSON 解析全部重复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修 bug 要改两个文件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使用继承后：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Edge 只需 18 行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自动获得 Chrome 全部能力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修一个地方，两个浏览器同时受益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语义清晰：Edge 就是 Chromium 内核浏览器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12/18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取证科学性保障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司法级严谨设计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只读防污染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所有 SQLite 连接 mode=ro + PRAGMA query_only=ON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浏览器运行时数据库被锁 → 自动 copy_to_temp 回退读取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临时文件读取完毕后自动 unlink 清理，不留痕迹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486400" cy="219456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链式保管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提取前对全部 .sqlite / .json 证据文件做 SHA-256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哈希记录于 report.json 元数据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报告本身也有 SHA-256 自校验 → 完整哈希链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5486400" cy="219456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记录级完整性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每条 ArtifactRecord 包含 checksum 字段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serialize → JSON → SHA-256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可逐条独立验证，防止选择性篡改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486400" cy="219456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时间戳保真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Chrome: 1601-01-01 微秒数 → ISO 8601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Firefox: 1970-01-01 微秒数 → ISO 8601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保留原始时区信息 +00:00，不做截断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画像时自动转本地时区显示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13/18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风险指标检测机制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三类自动风险检测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943600" cy="45720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def _risk_indicators(records) -&gt; dict: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indicators = {}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# 1. 隐私模式痕迹推断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indicators["private_mode_hint"] = len(records) &lt; 10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# 2. 历史清除检测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history_count = sum(1 for r in records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        if r.artifact_type == "history")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cookie_count = sum(1 for r in records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       if r.artifact_type == "cookie")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if history_count == 0 and cookie_count &gt; 0: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indicators["history_cleared"] = True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# Cookie存在但历史记录为零 → 手动清除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# 3. 可疑域名关键词匹配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suspicious_kw = ["torrent","crack","keygen",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     "warez","pirate","darkweb",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     "onion","hacktool"]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for rec in records: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for kw in suspicious_kw: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if kw in rec.data.get("url",""):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            suspicious_found.append({...})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风险 1: 隐私模式推断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记录数 &lt; 10 → 可能长期使用无痕模式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（无痕模式不持久化浏览历史）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风险 2: 历史清除痕迹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Cookie 仍在，但 History 为零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→ 用户主动清除了浏览历史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风险 3: 可疑关键词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遍历所有 URL 匹配 8 个关键词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命中后记录 关键词 + URL + 浏览器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  在报告中列出供人工研判</a:t>
            </a: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</a:p>
          <a:p>
            <a:pPr>
              <a:lnSpc>
                <a:spcPts val="1800"/>
              </a:lnSpc>
              <a:spcAft>
                <a:spcPts val="600"/>
              </a:spcAft>
              <a:defRPr sz="1200">
                <a:solidFill>
                  <a:srgbClr val="C62828"/>
                </a:solidFill>
                <a:latin typeface="微软雅黑" panose="020B0503020204020204" charset="-122"/>
              </a:defRPr>
            </a:pPr>
            <a:r>
              <a:t>以上指标仅作参考，需人工研判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14/18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工具层详解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utils/ — 4 个支撑模块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43200" cy="475488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sqlite_utils.py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safe_connect(path)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 mode=ro + query_only=ON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safe_connect_with_fallback(path)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├ 先尝试只读连接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 失败 → copy_to_temp → 关闭时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自动 unlink 清理临时文件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_dict_factory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 自定义 row_factory 返回 dict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兼容所有 Python 版本 .get()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743200" cy="27432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time_utils.py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chrome_micros_to_iso(µs)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 1601-01-01 epoch 微秒数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→ ISO 8601 字符串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firefox_micros_to_iso(µs)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 1970-01-01 epoch (PRTime)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→ ISO 8601 字符串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unix_millis_to_iso(ms)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 通用毫秒格式兼容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274320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url_utils.py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extract_domain(url)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 从 URL/host 提取纯域名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去掉协议/端口/前导点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classify_url(url)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 匹配 8 个预定义类别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未命中返回「其他」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URL_CATEGORIES dict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 可自定义扩展规则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554480"/>
            <a:ext cx="246888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config.py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CHROME_BASE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EDGE_BASE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FIREFOX_BASE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跨平台路径适配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OUTPUT_DIR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HASH_ALGORITHM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sha256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16/18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报告输出格式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output/writer.py — 4 类文件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74320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forensic_report.json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├─ metadata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 ├─ extraction_time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 ├─ file_hashes（证据哈希）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 └─ total_records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├─ profile（7 维度画像）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└─ records（全部痕迹）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74320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records.csv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UTF-8 BOM 编码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Excel 可直接打开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┌────────────────┐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type │url│ts│… 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│history│…  │…  │…│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│cookie  │…  │…  │…│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└────────────────┘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274320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timeline.csv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按时间升序排列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┌──────────────────┐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2022-12-20 02:57  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2023-03-15 14:22  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…                 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│ 2026-06-17 07:56  │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└──────────────────┘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554480"/>
            <a:ext cx="2468880" cy="228600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report_checksums.json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报告自校验文件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包含 report.json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records.csv /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timeline.csv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各自的 SHA-256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报告目录结构示例: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   ~/WebTrail_Forensics/report_20260618_152045/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   ├── forensic_report.json       (完整取证数据)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   ├── records.csv                (扁平化记录表)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   ├── timeline.csv               (时序活动时间线)</a:t>
            </a:r>
          </a:p>
          <a:p>
            <a:pPr>
              <a:lnSpc>
                <a:spcPts val="2100"/>
              </a:lnSpc>
              <a:spcAft>
                <a:spcPts val="600"/>
              </a:spcAft>
              <a:defRPr sz="1400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   └── report_checksums.json      (自校验哈希)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583680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17/18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164592" rtlCol="0" anchor="ctr"/>
          <a:lstStyle/>
          <a:p>
            <a:pPr algn="l"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实际运行效果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08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本地实测数据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943600" cy="47548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==================================================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WebTrail 数字取证报告摘要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==================================================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痕迹总数:      1573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时间线事件:    1570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时间范围:      2022-12-20 ~ 2026-06-17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检测浏览器:    Chrome, Edge, Firefox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配置数:        Default, Profile 1, ...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TOP 10 域名: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fanyi.baidu.com               185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github.com                     93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file                           82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accounts.google.com            69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chatgpt.com                    59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youtube.com                    51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cn.bing.com                    39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www.google.com                 38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google.com                     36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claude.ai                      32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访问类别分布: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其他               1408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搜索引擎             77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技术开发             76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视频                  9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社交媒体              2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    邮箱                  1</a:t>
            </a:r>
          </a:p>
          <a:p>
            <a:pPr>
              <a:spcAft>
                <a:spcPts val="200"/>
              </a:spcAft>
              <a:defRPr sz="1100">
                <a:solidFill>
                  <a:srgbClr val="1A2A3A"/>
                </a:solidFill>
                <a:latin typeface="Consolas" panose="020B0609020204030204"/>
              </a:defRPr>
            </a:pPr>
            <a:r>
              <a:t>==================================================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54480"/>
            <a:ext cx="5029200" cy="4754880"/>
          </a:xfrm>
          <a:prstGeom prst="roundRect">
            <a:avLst/>
          </a:prstGeom>
          <a:solidFill>
            <a:srgbClr val="F8FBFF"/>
          </a:solidFill>
          <a:ln w="1905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D47A1"/>
                </a:solidFill>
                <a:latin typeface="微软雅黑" panose="020B0503020204020204" charset="-122"/>
              </a:defRPr>
            </a:pPr>
            <a:r>
              <a:t>分浏览器统计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Chrome :  1379 条记录 · 0 错误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   2 个配置 (Default, Profile 1)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Edge :     191 条记录 · 0 错误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   1 个配置 (Default)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Firefox :    3 条记录 · 0 错误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        1 个配置 (jwoa6cvq)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证据文件:  189 个 SHA-256 哈希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画像结论: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活跃高峰: 下午时段（本地时间）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偏好: 技术开发 + 搜索引擎</a:t>
            </a:r>
          </a:p>
          <a:p>
            <a:pPr>
              <a:spcAft>
                <a:spcPts val="300"/>
              </a:spcAft>
              <a:defRPr sz="110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  - 典型技术人员画像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4.8,&quot;left&quot;:50.4,&quot;top&quot;:118.8,&quot;width&quot;:849.6}"/>
</p:tagLst>
</file>

<file path=ppt/tags/tag2.xml><?xml version="1.0" encoding="utf-8"?>
<p:tagLst xmlns:p="http://schemas.openxmlformats.org/presentationml/2006/main">
  <p:tag name="KSO_WM_DIAGRAM_VIRTUALLY_FRAME" val="{&quot;height&quot;:424.8,&quot;left&quot;:50.4,&quot;top&quot;:118.8,&quot;width&quot;:849.6}"/>
</p:tagLst>
</file>

<file path=ppt/tags/tag3.xml><?xml version="1.0" encoding="utf-8"?>
<p:tagLst xmlns:p="http://schemas.openxmlformats.org/presentationml/2006/main">
  <p:tag name="KSO_WM_DIAGRAM_VIRTUALLY_FRAME" val="{&quot;height&quot;:424.8,&quot;left&quot;:50.4,&quot;top&quot;:118.8,&quot;width&quot;:849.6}"/>
</p:tagLst>
</file>

<file path=ppt/tags/tag4.xml><?xml version="1.0" encoding="utf-8"?>
<p:tagLst xmlns:p="http://schemas.openxmlformats.org/presentationml/2006/main">
  <p:tag name="KSO_WM_DIAGRAM_VIRTUALLY_FRAME" val="{&quot;height&quot;:424.8,&quot;left&quot;:50.4,&quot;top&quot;:118.8,&quot;width&quot;:849.6}"/>
</p:tagLst>
</file>

<file path=ppt/tags/tag5.xml><?xml version="1.0" encoding="utf-8"?>
<p:tagLst xmlns:p="http://schemas.openxmlformats.org/presentationml/2006/main">
  <p:tag name="KSO_WM_DIAGRAM_VIRTUALLY_FRAME" val="{&quot;height&quot;:424.8,&quot;left&quot;:50.4,&quot;top&quot;:118.8,&quot;width&quot;:849.6}"/>
</p:tagLst>
</file>

<file path=ppt/tags/tag6.xml><?xml version="1.0" encoding="utf-8"?>
<p:tagLst xmlns:p="http://schemas.openxmlformats.org/presentationml/2006/main">
  <p:tag name="KSO_WM_DIAGRAM_VIRTUALLY_FRAME" val="{&quot;height&quot;:424.8,&quot;left&quot;:50.4,&quot;top&quot;:118.8,&quot;width&quot;:849.6}"/>
</p:tagLst>
</file>

<file path=ppt/tags/tag7.xml><?xml version="1.0" encoding="utf-8"?>
<p:tagLst xmlns:p="http://schemas.openxmlformats.org/presentationml/2006/main">
  <p:tag name="KSO_WM_DIAGRAM_VIRTUALLY_FRAME" val="{&quot;height&quot;:424.8,&quot;left&quot;:50.4,&quot;top&quot;:118.8,&quot;width&quot;:849.6}"/>
</p:tagLst>
</file>

<file path=ppt/tags/tag8.xml><?xml version="1.0" encoding="utf-8"?>
<p:tagLst xmlns:p="http://schemas.openxmlformats.org/presentationml/2006/main">
  <p:tag name="KSO_WM_DIAGRAM_VIRTUALLY_FRAME" val="{&quot;height&quot;:424.8,&quot;left&quot;:50.4,&quot;top&quot;:118.8,&quot;width&quot;:849.6}"/>
</p:tagLst>
</file>

<file path=ppt/tags/tag9.xml><?xml version="1.0" encoding="utf-8"?>
<p:tagLst xmlns:p="http://schemas.openxmlformats.org/presentationml/2006/main">
  <p:tag name="KSO_WM_DIAGRAM_VIRTUALLY_FRAME" val="{&quot;height&quot;:424.8,&quot;left&quot;:50.4,&quot;top&quot;:118.8,&quot;width&quot;:84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9108</Words>
  <Application>WPS 演示</Application>
  <PresentationFormat>On-screen Show (4:3)</PresentationFormat>
  <Paragraphs>560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范宇森</cp:lastModifiedBy>
  <cp:revision>3</cp:revision>
  <dcterms:created xsi:type="dcterms:W3CDTF">2013-01-27T09:14:00Z</dcterms:created>
  <dcterms:modified xsi:type="dcterms:W3CDTF">2026-06-22T08:26:42Z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B7F26A24FEB0462C85B37ED55BCD4754_12</vt:lpwstr>
  </property>
</Properties>
</file>